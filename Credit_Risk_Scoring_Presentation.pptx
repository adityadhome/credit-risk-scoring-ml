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48C7F0"/>
                </a:solidFill>
                <a:latin typeface="Calibri"/>
              </a:defRPr>
            </a:pPr>
            <a:r>
              <a:t>🏦 Credit Risk Scoring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Calibri"/>
              </a:defRPr>
            </a:pPr>
            <a:r>
              <a:t>Machine Learning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DCE6F5"/>
                </a:solidFill>
                <a:latin typeface="Calibri"/>
              </a:defRPr>
            </a:pPr>
            <a:r>
              <a:t>Predicting Loan Default Using Random Forest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6A0BE"/>
                </a:solidFill>
                <a:latin typeface="Calibri"/>
              </a:defRPr>
            </a:pPr>
            <a:r>
              <a:t>Dataset: Kaggle — Give Me Some Credit  |  150,000 Records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8C7F0"/>
                </a:solidFill>
                <a:latin typeface="Calibri"/>
              </a:defRPr>
            </a:pPr>
            <a:r>
              <a:t>📌 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36576"/>
          </a:xfrm>
          <a:prstGeom prst="rect">
            <a:avLst/>
          </a:prstGeom>
          <a:solidFill>
            <a:srgbClr val="48C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CE6F5"/>
                </a:solidFill>
                <a:latin typeface="Calibri"/>
              </a:defRPr>
            </a:pPr>
            <a:r>
              <a:t>•  Banks need to decide whether to approve or reject a loan application.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CE6F5"/>
                </a:solidFill>
                <a:latin typeface="Calibri"/>
              </a:defRPr>
            </a:pPr>
            <a:r>
              <a:t>•  If a borrower fails to repay (default), the bank loses money.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39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CE6F5"/>
                </a:solidFill>
                <a:latin typeface="Calibri"/>
              </a:defRPr>
            </a:pPr>
            <a:r>
              <a:t>•  Goal: Build a model that predicts the probability of default.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80359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CE6F5"/>
                </a:solidFill>
                <a:latin typeface="Calibri"/>
              </a:defRPr>
            </a:pPr>
            <a:r>
              <a:t>•  Target Variable: SeriousDlqin2yrs (1 = Default, 0 = No Default).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83279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CE6F5"/>
                </a:solidFill>
                <a:latin typeface="Calibri"/>
              </a:defRPr>
            </a:pPr>
            <a:r>
              <a:t>•  This helps banks reduce risk and make better lending decisions.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8C7F0"/>
                </a:solidFill>
                <a:latin typeface="Calibri"/>
              </a:defRPr>
            </a:pPr>
            <a:r>
              <a:t>📊 Dataset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36576"/>
          </a:xfrm>
          <a:prstGeom prst="rect">
            <a:avLst/>
          </a:prstGeom>
          <a:solidFill>
            <a:srgbClr val="48C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CE6F5"/>
                </a:solidFill>
                <a:latin typeface="Calibri"/>
              </a:defRPr>
            </a:pPr>
            <a:r>
              <a:t>•  Source: Kaggle 'Give Me Some Credit' competition.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CE6F5"/>
                </a:solidFill>
                <a:latin typeface="Calibri"/>
              </a:defRPr>
            </a:pPr>
            <a:r>
              <a:t>•  Total Records: 150,000 loan applicants.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39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CE6F5"/>
                </a:solidFill>
                <a:latin typeface="Calibri"/>
              </a:defRPr>
            </a:pPr>
            <a:r>
              <a:t>•  Features: 10 financial attributes (age, income, debt ratio, etc.).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80359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CE6F5"/>
                </a:solidFill>
                <a:latin typeface="Calibri"/>
              </a:defRPr>
            </a:pPr>
            <a:r>
              <a:t>•  Target: SeriousDlqin2yrs — whether borrower defaulted within 2 years.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83279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CE6F5"/>
                </a:solidFill>
                <a:latin typeface="Calibri"/>
              </a:defRPr>
            </a:pPr>
            <a:r>
              <a:t>•  Class Imbalance: ~93% Non-Default vs ~7% Default.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8C7F0"/>
                </a:solidFill>
                <a:latin typeface="Calibri"/>
              </a:defRPr>
            </a:pPr>
            <a:r>
              <a:t>📋 Key Features (Columns)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36576"/>
          </a:xfrm>
          <a:prstGeom prst="rect">
            <a:avLst/>
          </a:prstGeom>
          <a:solidFill>
            <a:srgbClr val="48C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8C7F0"/>
                </a:solidFill>
                <a:latin typeface="Calibri"/>
              </a:defRPr>
            </a:pPr>
            <a:r>
              <a:t>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31920" y="13716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DCE6F5"/>
                </a:solidFill>
                <a:latin typeface="Calibri"/>
              </a:defRPr>
            </a:pPr>
            <a:r>
              <a:t>Borrower's 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8C7F0"/>
                </a:solidFill>
                <a:latin typeface="Calibri"/>
              </a:defRPr>
            </a:pPr>
            <a:r>
              <a:t>MonthlyIncome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8288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DCE6F5"/>
                </a:solidFill>
                <a:latin typeface="Calibri"/>
              </a:defRPr>
            </a:pPr>
            <a:r>
              <a:t>Monthly income in dollars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8C7F0"/>
                </a:solidFill>
                <a:latin typeface="Calibri"/>
              </a:defRPr>
            </a:pPr>
            <a:r>
              <a:t>DebtRatio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22860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DCE6F5"/>
                </a:solidFill>
                <a:latin typeface="Calibri"/>
              </a:defRPr>
            </a:pPr>
            <a:r>
              <a:t>Monthly debt payments ÷ income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432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8C7F0"/>
                </a:solidFill>
                <a:latin typeface="Calibri"/>
              </a:defRPr>
            </a:pPr>
            <a:r>
              <a:t>RevolvingUtilization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27432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DCE6F5"/>
                </a:solidFill>
                <a:latin typeface="Calibri"/>
              </a:defRPr>
            </a:pPr>
            <a:r>
              <a:t>Credit used vs total credit limit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004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8C7F0"/>
                </a:solidFill>
                <a:latin typeface="Calibri"/>
              </a:defRPr>
            </a:pPr>
            <a:r>
              <a:t>NumberOfOpenCreditLines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32004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DCE6F5"/>
                </a:solidFill>
                <a:latin typeface="Calibri"/>
              </a:defRPr>
            </a:pPr>
            <a:r>
              <a:t>Number of open loans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6576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8C7F0"/>
                </a:solidFill>
                <a:latin typeface="Calibri"/>
              </a:defRPr>
            </a:pPr>
            <a:r>
              <a:t>NumberOfTimes90DaysLate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36576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DCE6F5"/>
                </a:solidFill>
                <a:latin typeface="Calibri"/>
              </a:defRPr>
            </a:pPr>
            <a:r>
              <a:t>Times 90+ days late on payment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1148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8C7F0"/>
                </a:solidFill>
                <a:latin typeface="Calibri"/>
              </a:defRPr>
            </a:pPr>
            <a:r>
              <a:t>NumberOfDependents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41148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DCE6F5"/>
                </a:solidFill>
                <a:latin typeface="Calibri"/>
              </a:defRPr>
            </a:pPr>
            <a:r>
              <a:t>Number of family dependents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5720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8C7F0"/>
                </a:solidFill>
                <a:latin typeface="Calibri"/>
              </a:defRPr>
            </a:pPr>
            <a:r>
              <a:t>NumberRealEstateLoans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45720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DCE6F5"/>
                </a:solidFill>
                <a:latin typeface="Calibri"/>
              </a:defRPr>
            </a:pPr>
            <a:r>
              <a:t>Number of mortgage loans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8C7F0"/>
                </a:solidFill>
                <a:latin typeface="Calibri"/>
              </a:defRPr>
            </a:pPr>
            <a:r>
              <a:t>🧹 Data Cleaning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36576"/>
          </a:xfrm>
          <a:prstGeom prst="rect">
            <a:avLst/>
          </a:prstGeom>
          <a:solidFill>
            <a:srgbClr val="48C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CE6F5"/>
                </a:solidFill>
                <a:latin typeface="Calibri"/>
              </a:defRPr>
            </a:pPr>
            <a:r>
              <a:t>•  Removed unnamed index column from the CSV.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CE6F5"/>
                </a:solidFill>
                <a:latin typeface="Calibri"/>
              </a:defRPr>
            </a:pPr>
            <a:r>
              <a:t>•  MonthlyIncome: ~20% missing → Filled with median value.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39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CE6F5"/>
                </a:solidFill>
                <a:latin typeface="Calibri"/>
              </a:defRPr>
            </a:pPr>
            <a:r>
              <a:t>•  NumberOfDependents: ~3% missing → Filled with median value.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80359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CE6F5"/>
                </a:solidFill>
                <a:latin typeface="Calibri"/>
              </a:defRPr>
            </a:pPr>
            <a:r>
              <a:t>•  Removed rows with unrealistic ages (&lt; 18 or &gt; 100).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83279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CE6F5"/>
                </a:solidFill>
                <a:latin typeface="Calibri"/>
              </a:defRPr>
            </a:pPr>
            <a:r>
              <a:t>•  After cleaning: ~149,986 clean records ready for modeling.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8C7F0"/>
                </a:solidFill>
                <a:latin typeface="Calibri"/>
              </a:defRPr>
            </a:pPr>
            <a:r>
              <a:t>🤖 Model: Random Forest Classifier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36576"/>
          </a:xfrm>
          <a:prstGeom prst="rect">
            <a:avLst/>
          </a:prstGeom>
          <a:solidFill>
            <a:srgbClr val="48C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CE6F5"/>
                </a:solidFill>
                <a:latin typeface="Calibri"/>
              </a:defRPr>
            </a:pPr>
            <a:r>
              <a:t>•  Algorithm: Random Forest (ensemble of 100 decision trees).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CE6F5"/>
                </a:solidFill>
                <a:latin typeface="Calibri"/>
              </a:defRPr>
            </a:pPr>
            <a:r>
              <a:t>•  Handles class imbalance using 'balanced' class weights.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39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CE6F5"/>
                </a:solidFill>
                <a:latin typeface="Calibri"/>
              </a:defRPr>
            </a:pPr>
            <a:r>
              <a:t>•  Max tree depth limited to 10 to prevent overfitting.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80359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CE6F5"/>
                </a:solidFill>
                <a:latin typeface="Calibri"/>
              </a:defRPr>
            </a:pPr>
            <a:r>
              <a:t>•  Train/Test Split: 80% training, 20% testing.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83279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CE6F5"/>
                </a:solidFill>
                <a:latin typeface="Calibri"/>
              </a:defRPr>
            </a:pPr>
            <a:r>
              <a:t>•  Stratified split ensures both sets have same default ratio.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86199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CE6F5"/>
                </a:solidFill>
                <a:latin typeface="Calibri"/>
              </a:defRPr>
            </a:pPr>
            <a:r>
              <a:t>•  No complex tuning needed — works well out of the box.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8C7F0"/>
                </a:solidFill>
                <a:latin typeface="Calibri"/>
              </a:defRPr>
            </a:pPr>
            <a:r>
              <a:t>📈 Model Evaluation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36576"/>
          </a:xfrm>
          <a:prstGeom prst="rect">
            <a:avLst/>
          </a:prstGeom>
          <a:solidFill>
            <a:srgbClr val="48C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CE6F5"/>
                </a:solidFill>
                <a:latin typeface="Calibri"/>
              </a:defRPr>
            </a:pPr>
            <a:r>
              <a:t>•  Accuracy: Percentage of correct predictions overall.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CE6F5"/>
                </a:solidFill>
                <a:latin typeface="Calibri"/>
              </a:defRPr>
            </a:pPr>
            <a:r>
              <a:t>•  ROC-AUC Score: Measures ability to distinguish default vs non-default.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39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CE6F5"/>
                </a:solidFill>
                <a:latin typeface="Calibri"/>
              </a:defRPr>
            </a:pPr>
            <a:r>
              <a:t>•  Precision: Of those predicted as default, how many actually defaulted?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80359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CE6F5"/>
                </a:solidFill>
                <a:latin typeface="Calibri"/>
              </a:defRPr>
            </a:pPr>
            <a:r>
              <a:t>•  Recall: Of actual defaults, how many did the model catch?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83279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CE6F5"/>
                </a:solidFill>
                <a:latin typeface="Calibri"/>
              </a:defRPr>
            </a:pPr>
            <a:r>
              <a:t>•  Confusion Matrix: Visual summary of correct/incorrect predictions.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86199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CE6F5"/>
                </a:solidFill>
                <a:latin typeface="Calibri"/>
              </a:defRPr>
            </a:pPr>
            <a:r>
              <a:t>•  Feature Importance: Shows which factors matter most for prediction.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8C7F0"/>
                </a:solidFill>
                <a:latin typeface="Calibri"/>
              </a:defRPr>
            </a:pPr>
            <a:r>
              <a:t>🔮 Making Predictions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36576"/>
          </a:xfrm>
          <a:prstGeom prst="rect">
            <a:avLst/>
          </a:prstGeom>
          <a:solidFill>
            <a:srgbClr val="48C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Example — New Loan Applicant: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DCE6F5"/>
                </a:solidFill>
                <a:latin typeface="Calibri"/>
              </a:defRPr>
            </a:pPr>
            <a:r>
              <a:t>•  Age: 35 years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231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DCE6F5"/>
                </a:solidFill>
                <a:latin typeface="Calibri"/>
              </a:defRPr>
            </a:pPr>
            <a:r>
              <a:t>•  Monthly Income: $5,000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DCE6F5"/>
                </a:solidFill>
                <a:latin typeface="Calibri"/>
              </a:defRPr>
            </a:pPr>
            <a:r>
              <a:t>•  Debt Ratio: 0.3 (30%)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461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DCE6F5"/>
                </a:solidFill>
                <a:latin typeface="Calibri"/>
              </a:defRPr>
            </a:pPr>
            <a:r>
              <a:t>•  Credit Utilization: 50%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576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DCE6F5"/>
                </a:solidFill>
                <a:latin typeface="Calibri"/>
              </a:defRPr>
            </a:pPr>
            <a:r>
              <a:t>•  Open Loans: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0690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DCE6F5"/>
                </a:solidFill>
                <a:latin typeface="Calibri"/>
              </a:defRPr>
            </a:pPr>
            <a:r>
              <a:t>•  Times 90+ Days Late: 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4805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DCE6F5"/>
                </a:solidFill>
                <a:latin typeface="Calibri"/>
              </a:defRPr>
            </a:pPr>
            <a:r>
              <a:t>•  Dependents: 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2286000"/>
            <a:ext cx="3474720" cy="2011680"/>
          </a:xfrm>
          <a:prstGeom prst="roundRect">
            <a:avLst/>
          </a:prstGeom>
          <a:solidFill>
            <a:srgbClr val="0F6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96FFC8"/>
                </a:solidFill>
              </a:defRPr>
            </a:pPr>
            <a:r>
              <a:t>✅ Prediction:</a:t>
            </a:r>
          </a:p>
          <a:p>
            <a:pPr algn="ctr">
              <a:defRPr sz="2600" b="1">
                <a:solidFill>
                  <a:srgbClr val="FFFFFF"/>
                </a:solidFill>
              </a:defRPr>
            </a:pPr>
            <a:r>
              <a:t>NOT LIKELY</a:t>
            </a:r>
            <a:br/>
            <a:r>
              <a:t>TO DEFAULT</a:t>
            </a:r>
          </a:p>
          <a:p>
            <a:pPr algn="ctr">
              <a:defRPr sz="1600">
                <a:solidFill>
                  <a:srgbClr val="B4FFD2"/>
                </a:solidFill>
              </a:defRPr>
            </a:pPr>
            <a:r>
              <a:t>Low Risk Applicant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8C7F0"/>
                </a:solidFill>
                <a:latin typeface="Calibri"/>
              </a:defRPr>
            </a:pPr>
            <a:r>
              <a:t>⚙️ Project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36576"/>
          </a:xfrm>
          <a:prstGeom prst="rect">
            <a:avLst/>
          </a:prstGeom>
          <a:solidFill>
            <a:srgbClr val="48C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1097280" cy="502920"/>
          </a:xfrm>
          <a:prstGeom prst="roundRect">
            <a:avLst/>
          </a:prstGeom>
          <a:solidFill>
            <a:srgbClr val="48C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1937"/>
                </a:solidFill>
              </a:defRPr>
            </a:pPr>
            <a:r>
              <a:t>Step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14630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Load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46304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CE6F5"/>
                </a:solidFill>
                <a:latin typeface="Calibri"/>
              </a:defRPr>
            </a:pPr>
            <a:r>
              <a:t>Read 150K records from CSV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03120"/>
            <a:ext cx="1097280" cy="502920"/>
          </a:xfrm>
          <a:prstGeom prst="roundRect">
            <a:avLst/>
          </a:prstGeom>
          <a:solidFill>
            <a:srgbClr val="48C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1937"/>
                </a:solidFill>
              </a:defRPr>
            </a:pPr>
            <a:r>
              <a:t>Step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21031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Clean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10312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CE6F5"/>
                </a:solidFill>
                <a:latin typeface="Calibri"/>
              </a:defRPr>
            </a:pPr>
            <a:r>
              <a:t>Fill missing values, remove bad rows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743200"/>
            <a:ext cx="1097280" cy="502920"/>
          </a:xfrm>
          <a:prstGeom prst="roundRect">
            <a:avLst/>
          </a:prstGeom>
          <a:solidFill>
            <a:srgbClr val="48C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1937"/>
                </a:solidFill>
              </a:defRPr>
            </a:pPr>
            <a:r>
              <a:t>Step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27432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Split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74320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CE6F5"/>
                </a:solidFill>
                <a:latin typeface="Calibri"/>
              </a:defRPr>
            </a:pPr>
            <a:r>
              <a:t>80% Train / 20% Test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383280"/>
            <a:ext cx="1097280" cy="502920"/>
          </a:xfrm>
          <a:prstGeom prst="roundRect">
            <a:avLst/>
          </a:prstGeom>
          <a:solidFill>
            <a:srgbClr val="48C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1937"/>
                </a:solidFill>
              </a:defRPr>
            </a:pPr>
            <a:r>
              <a:t>Step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33832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Train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338328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CE6F5"/>
                </a:solidFill>
                <a:latin typeface="Calibri"/>
              </a:defRPr>
            </a:pPr>
            <a:r>
              <a:t>Random Forest with 100 trees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023360"/>
            <a:ext cx="1097280" cy="502920"/>
          </a:xfrm>
          <a:prstGeom prst="roundRect">
            <a:avLst/>
          </a:prstGeom>
          <a:solidFill>
            <a:srgbClr val="48C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1937"/>
                </a:solidFill>
              </a:defRPr>
            </a:pPr>
            <a:r>
              <a:t>Step 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402336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Evaluate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402336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CE6F5"/>
                </a:solidFill>
                <a:latin typeface="Calibri"/>
              </a:defRPr>
            </a:pPr>
            <a:r>
              <a:t>Accuracy, ROC-AUC, Confusion Matrix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663440"/>
            <a:ext cx="1097280" cy="502920"/>
          </a:xfrm>
          <a:prstGeom prst="roundRect">
            <a:avLst/>
          </a:prstGeom>
          <a:solidFill>
            <a:srgbClr val="48C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1937"/>
                </a:solidFill>
              </a:defRPr>
            </a:pPr>
            <a:r>
              <a:t>Step 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46634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Predict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466344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CE6F5"/>
                </a:solidFill>
                <a:latin typeface="Calibri"/>
              </a:defRPr>
            </a:pPr>
            <a:r>
              <a:t>Score new applicants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303520"/>
            <a:ext cx="1097280" cy="502920"/>
          </a:xfrm>
          <a:prstGeom prst="roundRect">
            <a:avLst/>
          </a:prstGeom>
          <a:solidFill>
            <a:srgbClr val="48C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1937"/>
                </a:solidFill>
              </a:defRPr>
            </a:pPr>
            <a:r>
              <a:t>Step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53035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Save Model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530352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CE6F5"/>
                </a:solidFill>
                <a:latin typeface="Calibri"/>
              </a:defRPr>
            </a:pPr>
            <a:r>
              <a:t>Export as .pkl file for reuse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8C7F0"/>
                </a:solidFill>
                <a:latin typeface="Calibri"/>
              </a:defRPr>
            </a:pPr>
            <a:r>
              <a:t>🛠️ Tools &amp; Technologies Used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36576"/>
          </a:xfrm>
          <a:prstGeom prst="rect">
            <a:avLst/>
          </a:prstGeom>
          <a:solidFill>
            <a:srgbClr val="48C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CE6F5"/>
                </a:solidFill>
                <a:latin typeface="Calibri"/>
              </a:defRPr>
            </a:pPr>
            <a:r>
              <a:t>•  Python 3 — Programming Language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CE6F5"/>
                </a:solidFill>
                <a:latin typeface="Calibri"/>
              </a:defRPr>
            </a:pPr>
            <a:r>
              <a:t>•  Pandas — Data loading and manipulation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39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CE6F5"/>
                </a:solidFill>
                <a:latin typeface="Calibri"/>
              </a:defRPr>
            </a:pPr>
            <a:r>
              <a:t>•  NumPy — Numerical computations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80359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CE6F5"/>
                </a:solidFill>
                <a:latin typeface="Calibri"/>
              </a:defRPr>
            </a:pPr>
            <a:r>
              <a:t>•  Scikit-learn — Machine Learning (Random Forest, train/test split)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83279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CE6F5"/>
                </a:solidFill>
                <a:latin typeface="Calibri"/>
              </a:defRPr>
            </a:pPr>
            <a:r>
              <a:t>•  Matplotlib &amp; Seaborn — Data visualization and charts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86199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CE6F5"/>
                </a:solidFill>
                <a:latin typeface="Calibri"/>
              </a:defRPr>
            </a:pPr>
            <a:r>
              <a:t>•  Joblib — Saving and loading trained models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389119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CE6F5"/>
                </a:solidFill>
                <a:latin typeface="Calibri"/>
              </a:defRPr>
            </a:pPr>
            <a:r>
              <a:t>•  Jupyter Notebook — Interactive development environment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8C7F0"/>
                </a:solidFill>
                <a:latin typeface="Calibri"/>
              </a:defRPr>
            </a:pPr>
            <a:r>
              <a:t>✅ 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36576"/>
          </a:xfrm>
          <a:prstGeom prst="rect">
            <a:avLst/>
          </a:prstGeom>
          <a:solidFill>
            <a:srgbClr val="48C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CE6F5"/>
                </a:solidFill>
                <a:latin typeface="Calibri"/>
              </a:defRPr>
            </a:pPr>
            <a:r>
              <a:t>•  Built a complete Credit Risk Scoring system using Machine Learning.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CE6F5"/>
                </a:solidFill>
                <a:latin typeface="Calibri"/>
              </a:defRPr>
            </a:pPr>
            <a:r>
              <a:t>•  Random Forest model effectively predicts loan default probability.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39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CE6F5"/>
                </a:solidFill>
                <a:latin typeface="Calibri"/>
              </a:defRPr>
            </a:pPr>
            <a:r>
              <a:t>•  Handles class imbalance with balanced class weights.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80359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CE6F5"/>
                </a:solidFill>
                <a:latin typeface="Calibri"/>
              </a:defRPr>
            </a:pPr>
            <a:r>
              <a:t>•  Feature importance reveals key factors: late payments, utilization, age.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83279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CE6F5"/>
                </a:solidFill>
                <a:latin typeface="Calibri"/>
              </a:defRPr>
            </a:pPr>
            <a:r>
              <a:t>•  Model is saved and ready for deployment / future use.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86199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CE6F5"/>
                </a:solidFill>
                <a:latin typeface="Calibri"/>
              </a:defRPr>
            </a:pPr>
            <a:r>
              <a:t>•  Simple, clean, and easy to understand pipeline.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48C7F0"/>
                </a:solidFill>
                <a:latin typeface="Calibri"/>
              </a:defRPr>
            </a:pPr>
            <a:r>
              <a:t>Thank You! 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Calibri"/>
              </a:defRPr>
            </a:pPr>
            <a:r>
              <a:t>Credit Risk Scoring — ML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DCE6F5"/>
                </a:solidFill>
                <a:latin typeface="Calibri"/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